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ผู้ใช้สะสม</c:v>
                </c:pt>
              </c:strCache>
            </c:strRef>
          </c:tx>
          <c:spPr>
            <a:solidFill>
              <a:srgbClr val="D971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2000</c:v>
                </c:pt>
                <c:pt idx="1">
                  <c:v>3100</c:v>
                </c:pt>
                <c:pt idx="2">
                  <c:v>3800</c:v>
                </c:pt>
                <c:pt idx="3">
                  <c:v>4300</c:v>
                </c:pt>
                <c:pt idx="4">
                  <c:v>4800</c:v>
                </c:pt>
                <c:pt idx="5">
                  <c:v>5350</c:v>
                </c:pt>
                <c:pt idx="6">
                  <c:v>5950</c:v>
                </c:pt>
                <c:pt idx="7">
                  <c:v>6600</c:v>
                </c:pt>
                <c:pt idx="8">
                  <c:v>7300</c:v>
                </c:pt>
                <c:pt idx="9">
                  <c:v>8050</c:v>
                </c:pt>
                <c:pt idx="10">
                  <c:v>8850</c:v>
                </c:pt>
                <c:pt idx="11">
                  <c:v>9700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5B4E"/>
                </a:solidFill>
                <a:latin typeface="Leelawade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DD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5B4E"/>
                </a:solidFill>
                <a:latin typeface="Leelawade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เปิดด้วยปัญหา ไม่ใช่ด้วยสินค้า — ผู้ฟังต้องรู้สึกกับปัญหาก่อนถึงจะสนใจว่าเราแก้ยังไง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ให้ผู้ฟังนึกถึงทริปล่าสุดของตัวเอง — เกือบทุกคนเคยเป็นคนที่แบกทริปหรือเคยอยู่ในกลุ่มที่เงียบไปสามวัน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นี่คือสไลด์ที่สำคัญที่สุดของเด็ค — กลไกคืนเงินคือสิ่งที่ทำให้โมเดลนี้ต่างจากคู่แข่ง และเป็นคำตอบเวลาถูกถามว่าทำไมไม่ทำฟรีไปเลย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ปิดด้วยจุดยืนที่แข็งที่สุด: เราไม่ได้มาขอเงินเพราะจะตายถ้าไม่ได้ แต่มาเสนอโอกาสให้ร่วมเร่ง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ROVE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7F0E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ทริปกลุ่มพังเพราะแต่ละคนอยากไปคนละที่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7F0E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เราทำให้มันจบใน 20 นาที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4AFA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แพลนเนอร์ทริปสำหรับกลุ่มเพื่อน ที่รับ wishlist ทุกคนแล้วจัดเป็นตารางที่แก้ร่วมกันได้ พร้อมปุ่มจองที่เราได้ค่าคอมจากทุกการจอง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4AFA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แผนธุรกิจและการลงทุน  ·  สิงหาคม 2569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58368" cy="658368"/>
          </a:xfrm>
          <a:prstGeom prst="ellipse">
            <a:avLst/>
          </a:prstGeom>
          <a:solidFill>
            <a:srgbClr val="D9714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0233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658368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คนไทยเที่ยวญี่ปุ่นกันเป็นกลุ่ม และวางแผนกันเอง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กลุ่ม 3–6 คน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889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ทริปญี่ปุ่นของคนไทยส่วนใหญ่ไปกันเป็นกลุ่มเพื่อน ไม่ใช่คนเดียว และไม่ใช่กรุ๊ปทัวร์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011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฿150,000–200,000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7889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ค่าใช้จ่ายต่อทริปกลุ่ม 4 คน 7 วัน โดยราว 60–70% เป็นส่วนที่จองออนไลน์ได้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011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วางแผนเอง 100%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7889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ไม่มีใครจัดให้ ทุกกลุ่มเริ่มจากศูนย์ด้วยแชท Google Sheet และแท็บเบราว์เซอร์ 30 แท็บ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ตลาดนี้ไม่ต้องสร้างความต้องการใหม่ — คนวางแผนทริปกันอยู่แล้วทุกวัน แค่วางแผนด้วยเครื่องมือที่ไม่ได้ออกแบบมาเพื่อสิ่งนี้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2362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trip-planning-platform-plan.md §9.3 — unit economics ที่ทีมประเมินไว้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2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58368" cy="658368"/>
          </a:xfrm>
          <a:prstGeom prst="ellipse">
            <a:avLst/>
          </a:prstGeom>
          <a:solidFill>
            <a:srgbClr val="D9714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0233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658368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0E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แต่กระบวนการนี้พังทุกครั้ง ด้วยรูปแบบเดิม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“เอาไงดี ใครจัดวะ”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AFA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แล้วก็เงียบไปสามวัน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0" y="2157984"/>
            <a:ext cx="310896" cy="310896"/>
          </a:xfrm>
          <a:prstGeom prst="ellipse">
            <a:avLst/>
          </a:prstGeom>
          <a:solidFill>
            <a:srgbClr val="4A36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0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✕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1031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7F0E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แต่ละคนมีที่อยากไปคนละที่ ไม่มีใครอยากตัดสินใจแทนเพื่อน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2944368"/>
            <a:ext cx="310896" cy="310896"/>
          </a:xfrm>
          <a:prstGeom prst="ellipse">
            <a:avLst/>
          </a:prstGeom>
          <a:solidFill>
            <a:srgbClr val="4A36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8895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7F0E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จบที่แชท 300 ข้อความ กับ Sheet ที่ไม่มีใครอัปเดต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3730752"/>
            <a:ext cx="310896" cy="310896"/>
          </a:xfrm>
          <a:prstGeom prst="ellipse">
            <a:avLst/>
          </a:prstGeom>
          <a:solidFill>
            <a:srgbClr val="4A36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0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✕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67588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7F0E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คนหนึ่งคนแบกทั้งทริปไว้คนเดียว แล้วโดนบ่นตอนไปถึง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0" y="4517136"/>
            <a:ext cx="310896" cy="310896"/>
          </a:xfrm>
          <a:prstGeom prst="ellipse">
            <a:avLst/>
          </a:prstGeom>
          <a:solidFill>
            <a:srgbClr val="4A36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0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✕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4622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7F0E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วางแผนเสร็จแล้วยังต้องไปหาที่จองเองอีก 5 เว็บ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58368" cy="658368"/>
          </a:xfrm>
          <a:prstGeom prst="ellipse">
            <a:avLst/>
          </a:prstGeom>
          <a:solidFill>
            <a:srgbClr val="D9714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0233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CAUSE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658368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เพราะเครื่องมือที่มีอยู่ แก้ปัญหานี้ได้คนละครึ่ง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6F4F2"/>
          </a:solidFill>
          <a:ln w="12700">
            <a:solidFill>
              <a:srgbClr val="F6F4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9019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planner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12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ChatGPT · Layla · Mindtrip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1783080"/>
            <a:ext cx="7178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คนเดียวคุยกับ AI — ไม่มี wishlist รายคน ไม่มีโหวต ไม่มีการเทียบแผน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15768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6F4F2"/>
          </a:solidFill>
          <a:ln w="12700">
            <a:solidFill>
              <a:srgbClr val="F6F4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8346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แพลนใน Pantip / TikTok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145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คอนเทนต์ฟรี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2715768"/>
            <a:ext cx="7178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ก๊อปมาปรับวันกับงบของตัวเองไม่ได้ และจองต่อไม่ได้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6F4F2"/>
          </a:solidFill>
          <a:ln w="12700">
            <a:solidFill>
              <a:srgbClr val="F6F4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7673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Agent จัดให้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0782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฿1,000–3,000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3648456"/>
            <a:ext cx="7178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แพง ช้า และแก้เองระหว่างทางไม่ได้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581144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6F4F2"/>
          </a:solidFill>
          <a:ln w="12700">
            <a:solidFill>
              <a:srgbClr val="F6F4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7000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Google Sheet + LINE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010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ฟรี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4581144"/>
            <a:ext cx="7178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คือปัญหาที่กำลังจะแก้ ไม่ใช่ทางออก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559552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BEDE8"/>
          </a:solidFill>
          <a:ln w="19050">
            <a:solidFill>
              <a:srgbClr val="D97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6784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ช่องว่างที่เหลือ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5559552"/>
            <a:ext cx="7178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ไม่มีใครทำ “วางแผนร่วมกันได้ + ก๊อปแล้วปรับได้ + จองต่อได้ในที่เดียว” พร้อมกันทั้งสามอย่าง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58368" cy="658368"/>
          </a:xfrm>
          <a:prstGeom prst="ellipse">
            <a:avLst/>
          </a:prstGeom>
          <a:solidFill>
            <a:srgbClr val="D9714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0233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658368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และเรามีสิ่งที่คู่แข่งซื้อด้วยเงินไม่ได้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38328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11680"/>
            <a:ext cx="402336" cy="402336"/>
          </a:xfrm>
          <a:prstGeom prst="ellipse">
            <a:avLst/>
          </a:prstGeom>
          <a:solidFill>
            <a:srgbClr val="FBED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Distribution ตั้งต้น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926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อินฟลูฯ สายเที่ยวอยู่ในทีม มีคนถามหาแพลนในคอมเมนต์อยู่ทุกวัน — คู่แข่งต้องซื้อผู้ใช้ทุกคนด้วยเงินโฆษณา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737360"/>
            <a:ext cx="338328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2011680"/>
            <a:ext cx="402336" cy="402336"/>
          </a:xfrm>
          <a:prstGeom prst="ellipse">
            <a:avLst/>
          </a:prstGeom>
          <a:solidFill>
            <a:srgbClr val="FBED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วงจรที่โตเอง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926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คนก๊อปแพลนสาธารณะ = ผู้ใช้ใหม่ที่ไม่เสียค่าโฆษณา และเจ้าของแพลนได้ 30% ของค่าคอม จึงอยากเปิดสาธารณะเอง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38328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2011680"/>
            <a:ext cx="402336" cy="402336"/>
          </a:xfrm>
          <a:prstGeom prst="ellipse">
            <a:avLst/>
          </a:prstGeom>
          <a:solidFill>
            <a:srgbClr val="FBED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6676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สินค้าเสร็จแล้ว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926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Phase 1–4 build เสร็จ ใช้งานได้จริงวันนี้ ไม่ใช่ prototype — เหลือแค่สมัคร partner กับต่อระบบชำระเงิน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3D2B24"/>
          </a:solidFill>
          <a:ln w="12700">
            <a:solidFill>
              <a:srgbClr val="3D2B2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89204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0E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ตลาดมีอยู่แล้ว · ปัญหาชัด · เครื่องมือเดิมแก้ไม่ได้ · และเรามีคนดูอยู่แล้วก่อนสินค้าจะเปิด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58368" cy="658368"/>
          </a:xfrm>
          <a:prstGeom prst="ellipse">
            <a:avLst/>
          </a:prstGeom>
          <a:solidFill>
            <a:srgbClr val="D9714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0233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ANSWER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658368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ROVE — ทุกคนใส่ที่อยากไป AI จัดให้ กลุ่มแก้ร่วมกัน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15184" cy="301752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BED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รวบ wishlist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27248"/>
            <a:ext cx="2066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แต่ละคนใส่ที่อยากไปของตัวเอง แยกเป็น ต้องไป / ไปได้ก็ดี / ไม่เอา ไม่ต้องเกรงใจกัน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1783080"/>
            <a:ext cx="2615184" cy="301752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9312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BED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69748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จัดตาราง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127248"/>
            <a:ext cx="2066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จัดตามโซนและเวลาเดินทางจริง พร้อมเหตุผลกำกับว่าทำไมตัดอะไรออก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1344" y="1783080"/>
            <a:ext cx="2615184" cy="301752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55664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BED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38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269748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กลุ่มแก้ร่วมกัน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3127248"/>
            <a:ext cx="2066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โหวต คอมเมนต์ ลากสลับ เห็นกันแบบ realtime พร้อมหารบิลและงบจริง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97696" y="1783080"/>
            <a:ext cx="2615184" cy="301752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72016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BED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9272016" y="269748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กดจอง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272016" y="3127248"/>
            <a:ext cx="2066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ทุกรายการมีปุ่มจองที่ต่อไปยัง agent จริง — จุดที่เราได้รายได้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ทุกอย่างนี้ใช้งานได้จริงแล้ววันนี้ — ไม่ใช่ roadmap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971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DCD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โมเดลรายได้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เราคิดค่าวางแผน ฿299 ต่อทริป แล้วคืนให้เต็มจำนวนถ้าจองผ่านเรา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5331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BED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ปกติแพลตฟอร์มแบบนี้มีเครื่องยนต์สองตัวที่ตีกันเอง — ค่าคอมอยากได้คนใช้เยอะที่สุด ส่วนค่าบริการอยากได้เงินต่อหัวเยอะที่สุด การคืนเงินทำให้ทั้งสองตัวดึงไปทางเดียวกัน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FFFFF">
              <a:alpha val="1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37744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D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จองผ่าน ROVE  ·  ~30%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724912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฿1,450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474720"/>
            <a:ext cx="2935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BED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คืน ฿299 ให้เขา เราเก็บค่าคอมแทน — ลูกค้ารู้สึกว่าวางแผนฟรี เราได้เงินก้อนที่ใหญ่กว่า 5 เท่า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214884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37744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D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ไปจองที่อื่น  ·  ~70%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724912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฿299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474720"/>
            <a:ext cx="2935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BED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เขาได้แผนที่ใช้จริงไปเต็ม ๆ เราได้ค่าตัวที่คุ้มต้นทุน ไม่ต้องบังคับใครให้จองกับเรา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1584" y="214884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94192" y="237744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D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มูลค่าคาดหวังต่อทริป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94192" y="2724912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฿644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3474720"/>
            <a:ext cx="2935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BED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(0.30 × ฿1,450) + (0.70 × ฿299) — สูงกว่าโครงสร้างราคาเดิม 5.8 เท่า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BED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และมันทำให้เราพูดประโยคนี้ได้ทั้งประโยคโดยไม่ต้องปิดบังอะไร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“ถ้าจองผ่านเรา คุณไม่ต้องจ่ายค่าวางแผนเลย เพราะเราได้ค่าคอมจาก agent แล้ว”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BUSINESS MODEL CANVAS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ทั้งธุรกิจในหน้าเดียว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25066" cy="3127248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4944" y="1536192"/>
            <a:ext cx="1832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KEY PARTNERS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94944" y="1801368"/>
            <a:ext cx="183245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Agoda · Booking.com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Klook · KKday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Rentalcars · Airalo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AWS · Anthropic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Google Maps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83434" y="1417320"/>
            <a:ext cx="2125066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9738" y="1536192"/>
            <a:ext cx="1832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KEY ACTIVITIES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2929738" y="1801368"/>
            <a:ext cx="183245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ดูแลคุณภาพ POI · ปรับ AI pipeline · ดูแล partner · คอนเทนต์กับอินฟลูฯ · ขยายปลายทาง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83434" y="3035808"/>
            <a:ext cx="2125066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9738" y="3154680"/>
            <a:ext cx="1832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KEY RESOURCES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929738" y="3419856"/>
            <a:ext cx="183245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อินฟลูฯ ในทีม · ฐานข้อมูล POI · โค้ดเบสที่เสร็จแล้ว · แพลนสาธารณะที่ผู้ใช้สร้างเอง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18227" y="1417320"/>
            <a:ext cx="2125066" cy="3127248"/>
          </a:xfrm>
          <a:prstGeom prst="roundRect">
            <a:avLst>
              <a:gd name="adj" fmla="val 3012"/>
            </a:avLst>
          </a:prstGeom>
          <a:solidFill>
            <a:srgbClr val="FBEDE8"/>
          </a:solidFill>
          <a:ln w="19050">
            <a:solidFill>
              <a:srgbClr val="D97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64531" y="1536192"/>
            <a:ext cx="1832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VALUE PROPOSITIONS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5164531" y="1801368"/>
            <a:ext cx="183245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เลิกเป็นคนที่ต้องจัดทริปให้เพื่อนทั้งกลุ่ม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ประหยัดเวลาวางแผน ~15 ชม./ทริป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ทุกคนเห็นว่าที่ตัวเองอยากไปถูกใส่หรือตัดเพราะอะไร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จองต่อได้ในที่เดียว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53021" y="1417320"/>
            <a:ext cx="2125066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99325" y="1536192"/>
            <a:ext cx="1832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CUSTOMER RELATIONSHIPS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399325" y="1801368"/>
            <a:ext cx="183245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Self-service ทั้งหมด ไม่มี sales · ทริปเป็นของกลุ่ม คนที่ถูกชวนกลายเป็นผู้ใช้เอง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53021" y="3035808"/>
            <a:ext cx="2125066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99325" y="3154680"/>
            <a:ext cx="1832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CHANNELS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399325" y="3419856"/>
            <a:ext cx="183245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อินฟลูฯ ในทีม · ก๊อปแพลนสาธารณะ · ชวนเพื่อน · SEO · LINE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487814" y="1417320"/>
            <a:ext cx="2125066" cy="3127248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34118" y="1536192"/>
            <a:ext cx="1832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CUSTOMER SEGMENTS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9634118" y="1801368"/>
            <a:ext cx="183245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กลุ่มเพื่อนคนไทย 24–38 ปี ไปเที่ยวกัน 3–6 คน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โดยเฉพาะ “คนที่รับบทคนจัดทริปโดยไม่ได้อาสา”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ครีเอเตอร์สายเที่ยว — ได้ส่วนแบ่ง 30%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654296"/>
            <a:ext cx="6594653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" y="4773168"/>
            <a:ext cx="630204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COST STRUCTURE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94944" y="5038344"/>
            <a:ext cx="630204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คงที่ ฿67,600/เดือน — dev ฿35,000 · การตลาด ฿30,000 · เซิร์ฟเวอร์ ฿2,600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แปรผัน ~฿6/ทริป (ค่าเรียก AI)   ·   เซิร์ฟเวอร์คือ 3.8% เท่านั้น — ต้นทุนจริงคือเวลาคน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53021" y="4654296"/>
            <a:ext cx="4359859" cy="1371600"/>
          </a:xfrm>
          <a:prstGeom prst="roundRect">
            <a:avLst>
              <a:gd name="adj" fmla="val 4667"/>
            </a:avLst>
          </a:prstGeom>
          <a:solidFill>
            <a:srgbClr val="FBEDE8"/>
          </a:solidFill>
          <a:ln w="19050">
            <a:solidFill>
              <a:srgbClr val="D9714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99325" y="4773168"/>
            <a:ext cx="40672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REVENUE STREAMS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7399325" y="5038344"/>
            <a:ext cx="4067251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ค่าคอม affiliate ฿1,200–1,700 ต่อทริปที่จอง — เครื่องยนต์หลัก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Trip Pass ฿299/ทริป (คืนเมื่อจอง)  ·  ROVE Year ฿990/ปี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58368" cy="658368"/>
          </a:xfrm>
          <a:prstGeom prst="ellipse">
            <a:avLst/>
          </a:prstGeom>
          <a:solidFill>
            <a:srgbClr val="D9714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0233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LEVERAGE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658368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ตัวคูณที่ใหญ่ที่สุดไม่ใช่การขึ้นราคา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804672"/>
          </a:xfrm>
          <a:prstGeom prst="roundRect">
            <a:avLst>
              <a:gd name="adj" fmla="val 10227"/>
            </a:avLst>
          </a:prstGeom>
          <a:solidFill>
            <a:srgbClr val="FBEDE8"/>
          </a:solidFill>
          <a:ln w="19050">
            <a:solidFill>
              <a:srgbClr val="D971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ขยายปลายทางนอกญี่ปุ่น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78308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0.8 → 1.2 ทริป/คน/ปี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78308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+50%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0" y="178308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ต้องมีข้อมูล POI ประเทศใหม่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79192"/>
            <a:ext cx="11064240" cy="804672"/>
          </a:xfrm>
          <a:prstGeom prst="roundRect">
            <a:avLst>
              <a:gd name="adj" fmla="val 10227"/>
            </a:avLst>
          </a:prstGeom>
          <a:solidFill>
            <a:srgbClr val="F6F4F2"/>
          </a:solidFill>
          <a:ln w="12700">
            <a:solidFill>
              <a:srgbClr val="F6F4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7919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เพิ่มคนซื้อ Trip Pass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67919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30% → 45%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67919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+29%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2679192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ปรับ onboarding และ UX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75304"/>
            <a:ext cx="11064240" cy="804672"/>
          </a:xfrm>
          <a:prstGeom prst="roundRect">
            <a:avLst>
              <a:gd name="adj" fmla="val 10227"/>
            </a:avLst>
          </a:prstGeom>
          <a:solidFill>
            <a:srgbClr val="F6F4F2"/>
          </a:solidFill>
          <a:ln w="12700">
            <a:solidFill>
              <a:srgbClr val="F6F4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57530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เพิ่มคนจองผ่านเรา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575304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30% → 40%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3575304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+13%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3575304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ปรับ flow การจอง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471416"/>
            <a:ext cx="11064240" cy="804672"/>
          </a:xfrm>
          <a:prstGeom prst="roundRect">
            <a:avLst>
              <a:gd name="adj" fmla="val 10227"/>
            </a:avLst>
          </a:prstGeom>
          <a:solidFill>
            <a:srgbClr val="F6F4F2"/>
          </a:solidFill>
          <a:ln w="12700">
            <a:solidFill>
              <a:srgbClr val="F6F4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471416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ขึ้นราคา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4471416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฿299 → ฿349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4471416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+4%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4471416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เสี่ยงคนซื้อน้อยลงจนติดลบ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477256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3D2B24"/>
          </a:solidFill>
          <a:ln w="12700">
            <a:solidFill>
              <a:srgbClr val="3D2B2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5477256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0E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UI รองรับทั่วโลกอยู่แล้วตั้งแต่วันแรก — การขยายปลายทางจึงเป็นงานข้อมูล ไม่ใช่การรื้อระบบ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ตัวเลข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ต้องมี 3,700 ผู้ใช้ถึงคุ้มทุน — ไม่ใช่หลักแสน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15184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7A4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3,700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04288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ผู้ใช้ที่ต้องมีเพื่อคุ้มทุน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หรือ 250 ทริปต่อเดือน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64992" y="1463040"/>
            <a:ext cx="2615184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9312" y="164592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฿271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2304288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กำไรส่วนเพิ่มต่อทริป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ถัวเฉลี่ยฟรี + เสียเงิน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1344" y="1463040"/>
            <a:ext cx="2615184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164592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฿96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2304288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เพดาน CAC ต่อคน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ต่ำกว่านี้ = ปีแรกกำไร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97696" y="1463040"/>
            <a:ext cx="2615184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72016" y="164592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7A4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 : 1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272016" y="2304288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LTV ต่อ CAC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เกณฑ์สากลคือ ≥ 3:1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ผู้ใช้สะสมรายเดือน ปีแรก</a:t>
            </a:r>
            <a:endParaRPr lang="en-US" sz="14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8640" y="3566160"/>
          <a:ext cx="68580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7772400" y="3566160"/>
            <a:ext cx="384048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46720" y="3794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7A4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คุ้มทุนตั้งแต่เดือนที่ 3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046720" y="42519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คลื่นแรกจากอินฟลูฯ พุ่งในเดือนที่ 1 แล้วตก 75% ในเดือนที่ 3–5 ก่อนไต่ใหม่จากการบอกต่อ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เดือนที่ 4 จะรู้สึกเหมือนล้มเหลว ทั้งที่กำไรเป็นบวกแล้ว — นี่คือรูปทรงปกติของการเปิดตัวผ่านอินฟลูฯ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2362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ค่าใช้จ่ายคงที่ ฿67,600/เดือน เป็นตัวเลขจริงที่เจ้าของกำหนด · กำไรต่อทริปคำนวณจากราคาและต้นทุนจริงในระบบ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คาดการณ์ 5 ปี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กำไรตั้งแต่ปีแรก โดยไม่ต้องระดมทุน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ปี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50" kern="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50" kern="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รายรับส่วนเพิ่ม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50" kern="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ค่าใช้จ่าย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50" kern="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กำไรสุทธิ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87552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50" kern="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สะสม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901952"/>
            <a:ext cx="1143000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90195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ปีที่ 1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90195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9,700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190195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฿1.26M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190195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฿0.81M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190195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F7A4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 ฿0.45M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9875520" y="190195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F7A4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 ฿0.45M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65760" y="2542032"/>
            <a:ext cx="11430000" cy="621792"/>
          </a:xfrm>
          <a:prstGeom prst="roundRect">
            <a:avLst>
              <a:gd name="adj" fmla="val 13235"/>
            </a:avLst>
          </a:prstGeom>
          <a:solidFill>
            <a:srgbClr val="F6F4F2"/>
          </a:solidFill>
          <a:ln w="12700">
            <a:solidFill>
              <a:srgbClr val="F6F4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54203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ปีที่ 2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254203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16,000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254203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฿2.79M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852160" y="254203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฿1.07M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254203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F7A4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 ฿1.72M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254203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F7A4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 ฿2.17M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65760" y="3182112"/>
            <a:ext cx="1143000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18211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ปีที่ 3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920240" y="318211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24,000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3657600" y="318211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฿4.34M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852160" y="318211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฿1.75M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318211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F7A4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 ฿2.59M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875520" y="318211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F7A4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 ฿4.76M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365760" y="3822192"/>
            <a:ext cx="11430000" cy="621792"/>
          </a:xfrm>
          <a:prstGeom prst="roundRect">
            <a:avLst>
              <a:gd name="adj" fmla="val 13235"/>
            </a:avLst>
          </a:prstGeom>
          <a:solidFill>
            <a:srgbClr val="F6F4F2"/>
          </a:solidFill>
          <a:ln w="12700">
            <a:solidFill>
              <a:srgbClr val="F6F4F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382219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ปีที่ 4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1920240" y="38221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33,600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3657600" y="382219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฿6.25M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5852160" y="382219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฿2.56M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7863840" y="382219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F7A4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 ฿3.69M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9875520" y="38221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F7A4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 ฿8.45M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365760" y="4462272"/>
            <a:ext cx="11430000" cy="621792"/>
          </a:xfrm>
          <a:prstGeom prst="roundRect">
            <a:avLst>
              <a:gd name="adj" fmla="val 13235"/>
            </a:avLst>
          </a:prstGeom>
          <a:solidFill>
            <a:srgbClr val="FBEDE8"/>
          </a:solidFill>
          <a:ln w="19050">
            <a:solidFill>
              <a:srgbClr val="D9714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" y="446227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ปีที่ 5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1920240" y="446227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43,680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3657600" y="446227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฿8.38M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5852160" y="446227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฿3.36M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7863840" y="446227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F7A4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 ฿5.02M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9875520" y="446227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F7A4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 ฿13.47M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2303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฿13.47M</a:t>
            </a:r>
            <a:endParaRPr lang="en-US" sz="25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7332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กำไรสะสม 5 ปี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4297680" y="52303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฿0</a:t>
            </a:r>
            <a:endParaRPr lang="en-US" sz="2500" dirty="0"/>
          </a:p>
        </p:txBody>
      </p:sp>
      <p:sp>
        <p:nvSpPr>
          <p:cNvPr id="48" name="Text 46"/>
          <p:cNvSpPr txBox="1"/>
          <p:nvPr/>
        </p:nvSpPr>
        <p:spPr>
          <a:xfrm>
            <a:off x="4297680" y="57332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ทุนที่ต้องระดมเพื่ออยู่รอด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046720" y="52303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เดือนที่ 3</a:t>
            </a:r>
            <a:endParaRPr lang="en-US" sz="2500" dirty="0"/>
          </a:p>
        </p:txBody>
      </p:sp>
      <p:sp>
        <p:nvSpPr>
          <p:cNvPr id="50" name="Text 48"/>
          <p:cNvSpPr txBox="1"/>
          <p:nvPr/>
        </p:nvSpPr>
        <p:spPr>
          <a:xfrm>
            <a:off x="8046720" y="57332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จุดคุ้มทุน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63276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ค่าใช้จ่ายปีที่ 2–5 สมมุติว่าขยายทีมช้า: dev คนเดียวถึงปีที่ 2 แล้วเพิ่มทีละคน · การตลาดโตตามจำนวนผู้ใช้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สามสถานการณ์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แม้เคสที่แย่ที่สุดก็ไม่ล้ม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แย่ที่สุด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437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−฿657,000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CAC ฿150 · ผู้ใช้ 2,400 คน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ซื้อ Trip Pass เพียง 15%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จองผ่านเรา 5% / 20%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554480"/>
            <a:ext cx="352044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25400">
            <a:solidFill>
              <a:srgbClr val="D971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45152" y="1783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ฐาน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45152" y="21488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7A4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+฿451,000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28803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CAC ฿37 · ผู้ใช้ 9,700 คน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ซื้อ Trip Pass 30%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จองผ่านเรา 8% / 30%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1554480"/>
            <a:ext cx="352044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21624" y="1783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ดีที่สุด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21624" y="21488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7A4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+฿1,756,000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8421624" y="28803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CAC ฿25 · ผู้ใช้ 14,400 คน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ซื้อ Trip Pass 40%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จองผ่านเรา 12% / 35%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3D2B24"/>
          </a:solidFill>
          <a:ln w="12700">
            <a:solidFill>
              <a:srgbClr val="3D2B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5537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เคสแย่ที่สุดเสียเงินสดจริงเท่าไหร่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91947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F0E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฿391,200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4572000"/>
            <a:ext cx="6080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4AFA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เพราะ ฿420,000 ในตัวเลขขาดทุนคือค่าแรงเจ้าของเอง ไม่ใช่เงินสดที่ต้องหามาจ่าย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4AFA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นี่คือเพดานความเสี่ยงทั้งหมดของธุรกิจนี้ในปีแรก — และเป็นคำถามเดียวที่ต้องตอบก่อนเริ่ม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58368" cy="658368"/>
          </a:xfrm>
          <a:prstGeom prst="ellipse">
            <a:avLst/>
          </a:prstGeom>
          <a:solidFill>
            <a:srgbClr val="D9714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0233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ACTION PLAN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658368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สี่ช่วง พร้อมเกตตัดสินใจที่ชัดเจน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615184" cy="37947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ช่วง 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2494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ก่อนเปิดตัว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65176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สมัคร affiliate ทั้ง 6 เจ้า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ต่อ payment gateway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ปรับโครงสร้างราคาตาม M26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ติดตั้งการวัด CAC ให้ครบ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434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เกต: ทดสอบซื้อจริงและคลิกจองจริงได้ครบวงจร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64992" y="1737360"/>
            <a:ext cx="2615184" cy="37947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21024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ช่วง 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22494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เดือน 1–2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265176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คลิปเปิดตัวจากอินฟลูฯ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ปล่อยแพลนสาธารณะ 10–20 ใบ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ส่วนลดรุ่นก่อตั้ง ฿99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621024" y="4434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เกต: ผู้ใช้ ≥ 2,000 คน ไม่งั้นหยุดซื้อสื่อ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1344" y="1737360"/>
            <a:ext cx="2615184" cy="3794760"/>
          </a:xfrm>
          <a:prstGeom prst="roundRect">
            <a:avLst>
              <a:gd name="adj" fmla="val 3147"/>
            </a:avLst>
          </a:prstGeom>
          <a:solidFill>
            <a:srgbClr val="FBEDE8"/>
          </a:solidFill>
          <a:ln w="19050">
            <a:solidFill>
              <a:srgbClr val="D971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37376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ช่วง 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22494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เดือน 3–5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265176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★ ช่วงอันตรายที่สุด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คลื่นแรกหมดแรง ผู้ใช้ตก 75%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วัดว่า organic รับช่วงได้ไหม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4434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เกต: organic ≥ 50% ของผู้ใช้ใหม่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97696" y="1737360"/>
            <a:ext cx="2615184" cy="37947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53728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ช่วง 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53728" y="22494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เดือน 6–12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253728" y="265176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ขยายปลายทางนอกญี่ปุ่น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ดึงครีเอเตอร์เพิ่ม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ทบทวนราคาจากผลสำรวจจริง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253728" y="4434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เกต: กำไรสะสมเป็นบวก → ตัดสินใจจ้างเพิ่ม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2362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รายละเอียดเต็มพร้อมตัวชี้วัดรายเดือน: docs/breakeven-roadmap.md และ docs/customer-acquisition.md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สิ่งที่เรายังไม่รู้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สี่อย่างที่ยังพิสูจน์ไม่ได้ และเราไม่แกล้งทำเป็นว่ารู้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691640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คนจ่ายเงินจองมากกว่าคนใช้ฟรีจริงไหม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39112"/>
            <a:ext cx="4855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ตั้งไว้ 30% เทียบ 8% — เป็นสมมุติฐานที่แบกน้ำหนักมากที่สุดในแผนทั้งฉบับ ถ้าไม่จริง โครงสร้างราคาต้องคิดใหม่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44068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4808" y="1691640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คนยอมจ่าย ฿299 จริงไหม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64808" y="2039112"/>
            <a:ext cx="4855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฿299 มาจากการบรรจบของ 4 มุมตามตำรา Nagle &amp; Müller แต่มุมที่วัดความยินดีจ่ายยังไม่เคยทำ — แผนคือรัน Van Westendorp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81528"/>
            <a:ext cx="544068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264408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ค่าคอมจริงของ partner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611880"/>
            <a:ext cx="4855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฿1,200–1,700 เป็นค่าประเมิน ตัวจริงรู้ก็ต่อเมื่อสมัครแล้ว ซึ่งยังไม่ได้สมัครสักเจ้า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081528"/>
            <a:ext cx="544068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2DD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3264408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2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CAC จริงจากคลิปแรก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3611880"/>
            <a:ext cx="4855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5B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฿37 มาจากการประเมิน reach × conversion ที่ยังไม่เคยวัด ทั้งแผนขึ้นกับตัวนี้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3D2B24"/>
          </a:solidFill>
          <a:ln w="12700">
            <a:solidFill>
              <a:srgbClr val="3D2B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75488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7F0E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ทั้งสี่ข้อวัดได้ภายในเดือนแรกหลังเปิดตัว และเป็นเหตุผลที่แผนนี้ออกแบบให้จุดคุ้มทุนอยู่ที่ 3,700 ผู้ใช้ ไม่ใช่ 30,000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7F0E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ธุรกิจที่ต้องเดาถูกทุกข้อถึงจะรอด คือธุรกิจที่ไม่ควรเริ่ม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D2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ทำไมถึงน่าลงทุน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7F0E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เราไม่ได้ต้องการเงินเพื่ออยู่รอด</a:t>
            </a:r>
            <a:endParaRPr lang="en-US" sz="33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7F0E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เราต้องการเงินเพื่อไปเร็วขึ้น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C4AFA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ธุรกิจนี้กำไรตั้งแต่ปีแรกด้วยงบ ฿67,600 ต่อเดือน และไม่ต้องระดมทุนเพื่อดำเนินต่อ เงินลงทุนจึงไม่ได้ซื้อการอยู่รอด แต่ซื้อเวลา — ซึ่งในตลาดที่คู่แข่ง AI planner กำลังโตเร็ว เวลาคือสิ่งที่แพงที่สุด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4A362D"/>
          </a:solidFill>
          <a:ln w="12700">
            <a:solidFill>
              <a:srgbClr val="4A36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3639312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ขยายปลายทาง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4041648"/>
            <a:ext cx="2935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4AFA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ตัวคูณที่ใหญ่ที่สุด — รายรับโต 50% โดยไม่ต้องหาผู้ใช้เพิ่มสักคน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34290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4A362D"/>
          </a:solidFill>
          <a:ln w="12700">
            <a:solidFill>
              <a:srgbClr val="4A36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3639312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เร่งการหาผู้ใช้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4041648"/>
            <a:ext cx="2935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4AFA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 ฿96 ที่ใช้หาผู้ใช้ 1 คน คืนกลับ ฿217 ต่อปี คืนทุนใน 5 เดือน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01584" y="34290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4A362D"/>
          </a:solidFill>
          <a:ln w="12700">
            <a:solidFill>
              <a:srgbClr val="4A36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3639312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ทีมพัฒนา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94192" y="4041648"/>
            <a:ext cx="2935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4AFA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วันนี้มีคนเดียว ทุกอย่างจึงเดินได้ทีละอย่าง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AFA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จำนวนเงินและสัดส่วนหุ้นคุยกันได้ตามขนาดที่ตกลง — ตัวเลขข้างบนคือสิ่งที่เงินแต่ละก้อนซื้อได้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14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ROVE   ·   rovetravel.site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ROVE — แผนธุรกิจและการลงทุน</dc:title>
  <dc:subject>PptxGenJS Presentation</dc:subject>
  <dc:creator>ROVE</dc:creator>
  <cp:lastModifiedBy>ROVE</cp:lastModifiedBy>
  <cp:revision>1</cp:revision>
  <dcterms:created xsi:type="dcterms:W3CDTF">2026-08-26T18:24:54Z</dcterms:created>
  <dcterms:modified xsi:type="dcterms:W3CDTF">2026-08-26T18:24:54Z</dcterms:modified>
</cp:coreProperties>
</file>